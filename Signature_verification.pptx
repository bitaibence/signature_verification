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  <p:sldId id="257" r:id="rId3"/>
    <p:sldId id="259" r:id="rId4"/>
    <p:sldId id="272" r:id="rId5"/>
    <p:sldId id="265" r:id="rId6"/>
    <p:sldId id="268" r:id="rId7"/>
    <p:sldId id="267" r:id="rId8"/>
    <p:sldId id="269" r:id="rId9"/>
    <p:sldId id="273" r:id="rId10"/>
    <p:sldId id="270" r:id="rId11"/>
    <p:sldId id="271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dirty="0"/>
              <a:t>Eredmények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Munka1!$B$1</c:f>
              <c:strCache>
                <c:ptCount val="1"/>
                <c:pt idx="0">
                  <c:v>Saját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Munka1!$A$2:$A$3</c:f>
              <c:strCache>
                <c:ptCount val="2"/>
                <c:pt idx="0">
                  <c:v>Finger</c:v>
                </c:pt>
                <c:pt idx="1">
                  <c:v>Stylus</c:v>
                </c:pt>
              </c:strCache>
            </c:strRef>
          </c:cat>
          <c:val>
            <c:numRef>
              <c:f>Munka1!$B$2:$B$3</c:f>
              <c:numCache>
                <c:formatCode>General</c:formatCode>
                <c:ptCount val="2"/>
                <c:pt idx="0">
                  <c:v>7.7</c:v>
                </c:pt>
                <c:pt idx="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8B-43FB-A3A3-998018E937B2}"/>
            </c:ext>
          </c:extLst>
        </c:ser>
        <c:ser>
          <c:idx val="1"/>
          <c:order val="1"/>
          <c:tx>
            <c:strRef>
              <c:f>Munka1!$C$1</c:f>
              <c:strCache>
                <c:ptCount val="1"/>
                <c:pt idx="0">
                  <c:v>Cikk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Munka1!$A$2:$A$3</c:f>
              <c:strCache>
                <c:ptCount val="2"/>
                <c:pt idx="0">
                  <c:v>Finger</c:v>
                </c:pt>
                <c:pt idx="1">
                  <c:v>Stylus</c:v>
                </c:pt>
              </c:strCache>
            </c:strRef>
          </c:cat>
          <c:val>
            <c:numRef>
              <c:f>Munka1!$C$2:$C$3</c:f>
              <c:numCache>
                <c:formatCode>General</c:formatCode>
                <c:ptCount val="2"/>
                <c:pt idx="0">
                  <c:v>2.6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8B-43FB-A3A3-998018E93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4748736"/>
        <c:axId val="584749064"/>
      </c:barChart>
      <c:catAx>
        <c:axId val="584748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749064"/>
        <c:crosses val="autoZero"/>
        <c:auto val="1"/>
        <c:lblAlgn val="ctr"/>
        <c:lblOffset val="100"/>
        <c:noMultiLvlLbl val="0"/>
      </c:catAx>
      <c:valAx>
        <c:axId val="584749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748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90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65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6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001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152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7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81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187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882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41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37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09166D5-C04B-4A66-8114-AD9E2261D228}" type="datetimeFigureOut">
              <a:rPr lang="en-GB" smtClean="0"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2CA853A2-ABAC-4623-B3D7-6354B5C65F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40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FF2FA8-B4C0-080F-2D79-A7523C776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u-HU" sz="4800">
                <a:solidFill>
                  <a:srgbClr val="FFFFFF"/>
                </a:solidFill>
              </a:rPr>
              <a:t>Gépi tanulás alapú aláíráshitelesítés</a:t>
            </a:r>
            <a:endParaRPr lang="en-GB" sz="480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D70A4A-B64C-C446-610C-6E865CB4B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 fontScale="92500" lnSpcReduction="10000"/>
          </a:bodyPr>
          <a:lstStyle/>
          <a:p>
            <a:pPr algn="l"/>
            <a:r>
              <a:rPr lang="hu-HU" dirty="0"/>
              <a:t>Tantárgy: Önálló laboratórium</a:t>
            </a:r>
          </a:p>
          <a:p>
            <a:pPr algn="l"/>
            <a:r>
              <a:rPr lang="hu-HU" dirty="0"/>
              <a:t>Konzulens: Szücs Cintia Lia</a:t>
            </a:r>
          </a:p>
          <a:p>
            <a:r>
              <a:rPr lang="hu-HU" dirty="0"/>
              <a:t>Bitai Bence</a:t>
            </a: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22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BF17A6-3602-77B9-7605-228C056A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Aláíráshitelesítés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F4306F-9FA7-BD36-5F45-185FC3974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Cél: hamisított aláírások detektálása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Online vagy offline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u-HU" sz="2800" dirty="0" err="1">
                <a:solidFill>
                  <a:prstClr val="black"/>
                </a:solidFill>
                <a:latin typeface="Calibri" panose="020F0502020204030204"/>
              </a:rPr>
              <a:t>Feature-ök</a:t>
            </a: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: X, Y, nyomás,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  <a:defRPr/>
            </a:pP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irányszög, magasság, fej állapota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FA30BD2D-565B-898C-A93B-3898C4315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883" y="2180052"/>
            <a:ext cx="3089444" cy="416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22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3E33D4-6991-0493-4174-6D8971BF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DeepSignDb</a:t>
            </a:r>
            <a:endParaRPr lang="en-GB"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EC4AB47-72E1-FD9E-C705-8B03DD734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6765" y="1328632"/>
            <a:ext cx="7195127" cy="5635690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52480817-FB90-3EE4-5ED6-165CEC7EC010}"/>
              </a:ext>
            </a:extLst>
          </p:cNvPr>
          <p:cNvSpPr txBox="1"/>
          <p:nvPr/>
        </p:nvSpPr>
        <p:spPr>
          <a:xfrm>
            <a:off x="858982" y="2071408"/>
            <a:ext cx="3075709" cy="4095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Több adatbázis egyesítésével jött létre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2800" dirty="0" err="1">
                <a:solidFill>
                  <a:prstClr val="black"/>
                </a:solidFill>
                <a:latin typeface="Calibri" panose="020F0502020204030204"/>
              </a:rPr>
              <a:t>Finger</a:t>
            </a: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 és </a:t>
            </a:r>
            <a:r>
              <a:rPr lang="hu-HU" sz="2800" dirty="0" err="1">
                <a:solidFill>
                  <a:prstClr val="black"/>
                </a:solidFill>
                <a:latin typeface="Calibri" panose="020F0502020204030204"/>
              </a:rPr>
              <a:t>stylus</a:t>
            </a:r>
            <a:endParaRPr lang="hu-HU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Hamisított aláírások is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Random és </a:t>
            </a:r>
            <a:r>
              <a:rPr lang="hu-HU" sz="2800" dirty="0" err="1">
                <a:solidFill>
                  <a:prstClr val="black"/>
                </a:solidFill>
                <a:latin typeface="Calibri" panose="020F0502020204030204"/>
              </a:rPr>
              <a:t>skilled</a:t>
            </a:r>
            <a:endParaRPr lang="hu-HU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u-HU" sz="2800" dirty="0" err="1">
                <a:solidFill>
                  <a:prstClr val="black"/>
                </a:solidFill>
                <a:latin typeface="Calibri" panose="020F0502020204030204"/>
              </a:rPr>
              <a:t>Fingernél</a:t>
            </a: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 kevesebb </a:t>
            </a:r>
            <a:r>
              <a:rPr lang="hu-HU" sz="2800" dirty="0" err="1">
                <a:solidFill>
                  <a:prstClr val="black"/>
                </a:solidFill>
                <a:latin typeface="Calibri" panose="020F0502020204030204"/>
              </a:rPr>
              <a:t>feature</a:t>
            </a:r>
            <a:endParaRPr lang="hu-HU" sz="2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2251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301C8D-FFA9-65CD-D3BD-D6695FA6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kiválasztott cikk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A0484C-C38A-6FB7-6D22-FA490D8D7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u-HU" sz="2800" dirty="0" err="1">
                <a:solidFill>
                  <a:prstClr val="black"/>
                </a:solidFill>
                <a:latin typeface="Calibri" panose="020F0502020204030204"/>
              </a:rPr>
              <a:t>DeepSignDb</a:t>
            </a: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 létrehozói által készített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Deep </a:t>
            </a:r>
            <a:r>
              <a:rPr lang="hu-HU" sz="2800" dirty="0" err="1">
                <a:solidFill>
                  <a:prstClr val="black"/>
                </a:solidFill>
                <a:latin typeface="Calibri" panose="020F0502020204030204"/>
              </a:rPr>
              <a:t>learning</a:t>
            </a: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 használata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On-Line aláíráshitelesítés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hu-HU" sz="2800" dirty="0">
                <a:solidFill>
                  <a:prstClr val="black"/>
                </a:solidFill>
                <a:latin typeface="Calibri" panose="020F0502020204030204"/>
              </a:rPr>
              <a:t>Jó eredmények</a:t>
            </a:r>
          </a:p>
          <a:p>
            <a:endParaRPr lang="en-GB" dirty="0"/>
          </a:p>
        </p:txBody>
      </p:sp>
      <p:pic>
        <p:nvPicPr>
          <p:cNvPr id="4" name="Tartalom helye 8">
            <a:extLst>
              <a:ext uri="{FF2B5EF4-FFF2-40B4-BE49-F238E27FC236}">
                <a16:creationId xmlns:a16="http://schemas.microsoft.com/office/drawing/2014/main" id="{BF31028B-2BD7-283C-DCB2-6A526ADF7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045" y="2715577"/>
            <a:ext cx="6979828" cy="376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31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9056C9-FDB8-9F68-FD74-3D15542A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Megvalósítás lépései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0A0246-8075-DEB1-680D-66B3E1EFA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Beolvasás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Előfeldolgozás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Time </a:t>
            </a:r>
            <a:r>
              <a:rPr lang="hu-HU" dirty="0" err="1"/>
              <a:t>functionok</a:t>
            </a:r>
            <a:r>
              <a:rPr lang="hu-HU" dirty="0"/>
              <a:t> kiszámítása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Normalizáció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Time </a:t>
            </a:r>
            <a:r>
              <a:rPr lang="hu-HU" dirty="0" err="1"/>
              <a:t>function</a:t>
            </a:r>
            <a:r>
              <a:rPr lang="hu-HU" dirty="0"/>
              <a:t> </a:t>
            </a:r>
            <a:r>
              <a:rPr lang="hu-HU" dirty="0" err="1"/>
              <a:t>alignment</a:t>
            </a:r>
            <a:r>
              <a:rPr lang="hu-HU" dirty="0"/>
              <a:t> </a:t>
            </a:r>
            <a:r>
              <a:rPr lang="hu-HU" dirty="0" err="1"/>
              <a:t>dtw</a:t>
            </a:r>
            <a:r>
              <a:rPr lang="hu-HU" dirty="0"/>
              <a:t>-vel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Input adatok létrehozása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Tanítás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Kiértékelés</a:t>
            </a:r>
          </a:p>
        </p:txBody>
      </p:sp>
    </p:spTree>
    <p:extLst>
      <p:ext uri="{BB962C8B-B14F-4D97-AF65-F5344CB8AC3E}">
        <p14:creationId xmlns:p14="http://schemas.microsoft.com/office/powerpoint/2010/main" val="96374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A66F8D-BDBF-D2AB-3C94-7CBDCE56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Beolvasás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2629F16-FDD2-9C13-0891-75D2D62C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9116377-EFB1-52A2-FCDE-0AA637169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44" y="3303784"/>
            <a:ext cx="2458172" cy="331277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292D729-D00C-23E4-CCD8-C182154A4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91" y="1591781"/>
            <a:ext cx="5107709" cy="485188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FDE410F-39CC-C700-79AD-1329F8E54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016" y="1919187"/>
            <a:ext cx="5305748" cy="4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3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324B0B-041F-2DCA-9C35-6087466E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Előfeldolgozás, Time </a:t>
            </a:r>
            <a:r>
              <a:rPr lang="hu-HU" dirty="0" err="1"/>
              <a:t>functionok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288C84-AC6C-69C2-C1F4-511BD77BE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Hiányzó </a:t>
            </a:r>
            <a:r>
              <a:rPr lang="hu-HU" dirty="0" err="1"/>
              <a:t>timestampek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Kettő </a:t>
            </a:r>
            <a:r>
              <a:rPr lang="hu-HU" dirty="0" err="1"/>
              <a:t>timestamp</a:t>
            </a:r>
            <a:r>
              <a:rPr lang="hu-HU" dirty="0"/>
              <a:t> ugyanaz egymás után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Elején meg végén sorok 0 </a:t>
            </a:r>
            <a:r>
              <a:rPr lang="hu-HU" dirty="0" err="1"/>
              <a:t>pressure</a:t>
            </a:r>
            <a:r>
              <a:rPr lang="hu-HU" dirty="0"/>
              <a:t>-el</a:t>
            </a:r>
          </a:p>
          <a:p>
            <a:endParaRPr lang="hu-HU" dirty="0"/>
          </a:p>
          <a:p>
            <a:endParaRPr lang="en-GB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18EAC18-A3C6-D398-FA5B-73A2E00C0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9" y="3275898"/>
            <a:ext cx="12067522" cy="330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1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7F2A58-EE83-6E20-433F-791F360D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hu-HU" dirty="0" err="1"/>
              <a:t>Normalizáció</a:t>
            </a:r>
            <a:r>
              <a:rPr lang="hu-HU" dirty="0"/>
              <a:t>, Time </a:t>
            </a:r>
            <a:r>
              <a:rPr lang="hu-HU" dirty="0" err="1"/>
              <a:t>function</a:t>
            </a:r>
            <a:r>
              <a:rPr lang="hu-HU" dirty="0"/>
              <a:t> </a:t>
            </a:r>
            <a:r>
              <a:rPr lang="hu-HU" dirty="0" err="1"/>
              <a:t>alignment</a:t>
            </a:r>
            <a:r>
              <a:rPr lang="hu-HU" dirty="0"/>
              <a:t> </a:t>
            </a:r>
            <a:r>
              <a:rPr lang="hu-HU" dirty="0" err="1"/>
              <a:t>dtw</a:t>
            </a:r>
            <a:r>
              <a:rPr lang="hu-HU" dirty="0"/>
              <a:t>-vel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2B2B4A-F538-CF55-24DA-22C4CB01B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Z </a:t>
            </a:r>
            <a:r>
              <a:rPr lang="hu-HU" dirty="0" err="1"/>
              <a:t>normalizáció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Fastdtw</a:t>
            </a:r>
            <a:endParaRPr lang="hu-HU" dirty="0"/>
          </a:p>
          <a:p>
            <a:endParaRPr lang="en-GB" dirty="0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93945D08-6C24-64D6-A8CB-CD50B5EB2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9065"/>
            <a:ext cx="12192000" cy="3606956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B61472A-F45B-67C0-17BC-5427145A0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52" y="1577500"/>
            <a:ext cx="2283637" cy="159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1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110D7C-46D0-ED81-A6E4-3A918A949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Input adatok létrehozása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E3CE22-8B9D-8CC1-377A-26462B61A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Két tömb aláírásokkal + </a:t>
            </a:r>
            <a:r>
              <a:rPr lang="hu-HU" dirty="0" err="1"/>
              <a:t>labelek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Változó hosszúságú adatok -&gt; </a:t>
            </a:r>
            <a:r>
              <a:rPr lang="hu-HU" dirty="0" err="1"/>
              <a:t>Zero</a:t>
            </a:r>
            <a:r>
              <a:rPr lang="hu-HU" dirty="0"/>
              <a:t> </a:t>
            </a:r>
            <a:r>
              <a:rPr lang="hu-HU" dirty="0" err="1"/>
              <a:t>mask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80:20 </a:t>
            </a:r>
            <a:r>
              <a:rPr lang="hu-HU" dirty="0" err="1"/>
              <a:t>split</a:t>
            </a:r>
            <a:r>
              <a:rPr lang="hu-HU" dirty="0"/>
              <a:t> tanításra és kiértékelésre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Random és </a:t>
            </a:r>
            <a:r>
              <a:rPr lang="hu-HU" dirty="0" err="1"/>
              <a:t>skilled</a:t>
            </a:r>
            <a:r>
              <a:rPr lang="hu-HU" dirty="0"/>
              <a:t> </a:t>
            </a:r>
            <a:r>
              <a:rPr lang="hu-HU" dirty="0" err="1"/>
              <a:t>forgery</a:t>
            </a:r>
            <a:r>
              <a:rPr lang="hu-HU" dirty="0"/>
              <a:t>-k fele </a:t>
            </a:r>
            <a:r>
              <a:rPr lang="hu-HU" dirty="0" err="1"/>
              <a:t>fele</a:t>
            </a:r>
            <a:r>
              <a:rPr lang="hu-HU" dirty="0"/>
              <a:t> arányban, keverve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9388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666843-5D3A-C114-DCFB-B17715E9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Tanítás</a:t>
            </a:r>
            <a:endParaRPr lang="en-GB" dirty="0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56012B1E-A6B0-CE14-8777-D75806FA1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47716"/>
            <a:ext cx="5010150" cy="487677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5D181CC-BE1A-B261-0351-753B13CEB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0" y="3195254"/>
            <a:ext cx="7023384" cy="328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87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15260C-7468-1B9D-5CB4-A98BDBAE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Kiértékelés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1CC90F6-B8E5-3D5A-52CB-3F944122D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5000 </a:t>
            </a:r>
            <a:r>
              <a:rPr lang="hu-HU" dirty="0" err="1"/>
              <a:t>comparison</a:t>
            </a:r>
            <a:r>
              <a:rPr lang="hu-HU" dirty="0"/>
              <a:t>, 10000 aláírás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</a:t>
            </a:r>
            <a:r>
              <a:rPr lang="hu-HU" dirty="0" err="1"/>
              <a:t>model.Predict</a:t>
            </a:r>
            <a:r>
              <a:rPr lang="hu-HU" dirty="0"/>
              <a:t>, majd EER számítás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Equal</a:t>
            </a:r>
            <a:r>
              <a:rPr lang="hu-HU" dirty="0"/>
              <a:t> </a:t>
            </a:r>
            <a:r>
              <a:rPr lang="hu-HU" dirty="0" err="1"/>
              <a:t>error</a:t>
            </a:r>
            <a:r>
              <a:rPr lang="hu-HU" dirty="0"/>
              <a:t> </a:t>
            </a:r>
            <a:r>
              <a:rPr lang="hu-HU" dirty="0" err="1"/>
              <a:t>rate</a:t>
            </a:r>
            <a:r>
              <a:rPr lang="hu-HU" dirty="0"/>
              <a:t> (EER)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Finger</a:t>
            </a:r>
            <a:r>
              <a:rPr lang="hu-HU" dirty="0"/>
              <a:t>:  7.7%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Stylus</a:t>
            </a:r>
            <a:r>
              <a:rPr lang="hu-HU" dirty="0"/>
              <a:t>:  2.6%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Cikk </a:t>
            </a:r>
            <a:r>
              <a:rPr lang="hu-HU" dirty="0" err="1"/>
              <a:t>finger</a:t>
            </a:r>
            <a:r>
              <a:rPr lang="hu-HU" dirty="0"/>
              <a:t>: 1.8%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Cikk </a:t>
            </a:r>
            <a:r>
              <a:rPr lang="hu-HU" dirty="0" err="1"/>
              <a:t>stylus</a:t>
            </a:r>
            <a:r>
              <a:rPr lang="hu-HU" dirty="0"/>
              <a:t>: 1.5%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5CCE1BB-9D62-83E9-321A-016C2C584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4687938"/>
              </p:ext>
            </p:extLst>
          </p:nvPr>
        </p:nvGraphicFramePr>
        <p:xfrm>
          <a:off x="5797523" y="1520688"/>
          <a:ext cx="5473450" cy="4397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68165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D88130-D382-FFDE-04BD-17D23495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649" y="2599901"/>
            <a:ext cx="6334702" cy="1658198"/>
          </a:xfrm>
        </p:spPr>
        <p:txBody>
          <a:bodyPr/>
          <a:lstStyle/>
          <a:p>
            <a:r>
              <a:rPr lang="hu-HU" dirty="0"/>
              <a:t>Köszönöm a figyelmet!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1159300"/>
      </p:ext>
    </p:extLst>
  </p:cSld>
  <p:clrMapOvr>
    <a:masterClrMapping/>
  </p:clrMapOvr>
</p:sld>
</file>

<file path=ppt/theme/theme1.xml><?xml version="1.0" encoding="utf-8"?>
<a:theme xmlns:a="http://schemas.openxmlformats.org/drawingml/2006/main" name="Nagyvárosi">
  <a:themeElements>
    <a:clrScheme name="Kék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Nagyvárosi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agyváros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Override1.xml><?xml version="1.0" encoding="utf-8"?>
<a:themeOverride xmlns:a="http://schemas.openxmlformats.org/drawingml/2006/main">
  <a:clrScheme name="Kék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</TotalTime>
  <Words>186</Words>
  <Application>Microsoft Office PowerPoint</Application>
  <PresentationFormat>Szélesvásznú</PresentationFormat>
  <Paragraphs>53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Nagyvárosi</vt:lpstr>
      <vt:lpstr>Gépi tanulás alapú aláíráshitelesítés</vt:lpstr>
      <vt:lpstr>Aláíráshitelesítés</vt:lpstr>
      <vt:lpstr>DeepSignDb</vt:lpstr>
      <vt:lpstr>A kiválasztott cikk</vt:lpstr>
      <vt:lpstr>Megvalósítás lépései</vt:lpstr>
      <vt:lpstr>Beolvasás</vt:lpstr>
      <vt:lpstr>Előfeldolgozás, Time functionok</vt:lpstr>
      <vt:lpstr>Normalizáció, Time function alignment dtw-vel</vt:lpstr>
      <vt:lpstr>Input adatok létrehozása</vt:lpstr>
      <vt:lpstr>Tanítás</vt:lpstr>
      <vt:lpstr>Kiértékelés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Gépi tanulás alapú aláíráshitelesítés</dc:title>
  <dc:creator>Bitai Bence</dc:creator>
  <cp:lastModifiedBy>Bitai Bence</cp:lastModifiedBy>
  <cp:revision>7</cp:revision>
  <dcterms:created xsi:type="dcterms:W3CDTF">2022-05-12T20:29:41Z</dcterms:created>
  <dcterms:modified xsi:type="dcterms:W3CDTF">2022-05-25T21:55:33Z</dcterms:modified>
</cp:coreProperties>
</file>